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5d61927a214666" /><Relationship Type="http://schemas.openxmlformats.org/officeDocument/2006/relationships/extended-properties" Target="/docProps/app.xml" Id="R47f20309a9334fc9" /><Relationship Type="http://schemas.openxmlformats.org/officeDocument/2006/relationships/officeDocument" Target="/ppt/presentation.xml" Id="Rfc4f139649494b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07f2df1ae44298"/>
  </p:sldMasterIdLst>
  <p:notesMasterIdLst>
    <p:notesMasterId xmlns:r="http://schemas.openxmlformats.org/officeDocument/2006/relationships" r:id="R9f3e6998829e4893"/>
  </p:notesMasterIdLst>
  <p:sldIdLst>
    <p:sldId xmlns:r="http://schemas.openxmlformats.org/officeDocument/2006/relationships" id="256" r:id="R634f56647e284c86"/>
  </p:sldIdLst>
  <p:sldSz cx="6480000" cy="2419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1acfb690634c9a" /><Relationship Type="http://schemas.openxmlformats.org/officeDocument/2006/relationships/slideMaster" Target="/ppt/slideMasters/slideMaster1.xml" Id="Rad07f2df1ae44298" /><Relationship Type="http://schemas.openxmlformats.org/officeDocument/2006/relationships/notesMaster" Target="/ppt/notesMasters/notesMaster1.xml" Id="R9f3e6998829e4893" /><Relationship Type="http://schemas.openxmlformats.org/officeDocument/2006/relationships/presProps" Target="/ppt/presProps.xml" Id="R0ab7787cb92d4889" /><Relationship Type="http://schemas.openxmlformats.org/officeDocument/2006/relationships/tableStyles" Target="/ppt/tableStyles.xml" Id="R04fd3e0ee6394198" /><Relationship Type="http://schemas.openxmlformats.org/officeDocument/2006/relationships/slide" Target="/ppt/slides/slide1.xml" Id="R634f56647e284c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4e8ae66c2e47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c7559182d44edc" /><Relationship Type="http://schemas.openxmlformats.org/officeDocument/2006/relationships/notesMaster" Target="/ppt/notesMasters/notesMaster1.xml" Id="Reeb1d703db8d4c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RangeRectQuant method overview. Source: /Users/nathmath/dcc/RangeRectQuant/paper/main.pdf, pages 3–5, and /Users/nathmath/dcc/RangeRectQuant/paper/sections/method.tex.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PDF SHA-256: 45d40569f201b96be0c6285ec45c6f1da1e7119714b1de3e07bb8e3f9abf4c4e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Gray upper region: the lossy, row-wise backward–forward construction. Gray lower region: ordinary queries after decoding. Hatched regions: lossless coding and decoding of the constructed 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B=floor(epsilon/4). q is the positive integer coarse step. U is the physical upper bound. P includes missing samples and designated exact samples.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Z=floor(Y/q), r=Y mod q. Both arrays use 16-bit low-byte/high-byte shuffle and LZMA preset 6. Bit-packed masks use zlib. The file also contains configuration, geospatial metadata, reconstruction digest, and checksum.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Decoding never reruns or reverses the quantizer and needs neither X nor query-specific corrections. The full missing mask enters the valid-count prefix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Arrow endpoints are separate native transparent port shapes. Text, rectangles, patterns, arrows and arrowheads are editable. No raster images are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19ba5142d41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8d2511eba14546" /><Relationship Type="http://schemas.openxmlformats.org/officeDocument/2006/relationships/slideLayout" Target="/ppt/slideLayouts/slideLayout1.xml" Id="R9694d3d36eeb42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94d3d36eeb42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04244af254801" /><Relationship Type="http://schemas.openxmlformats.org/officeDocument/2006/relationships/notesSlide" Target="/ppt/notesSlides/notesSlide1.xml" Id="R6bb81f80e68b42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construction-region">
            <a:extLst xmlns:a="http://schemas.openxmlformats.org/drawingml/2006/main">
              <a:ext uri="{FF2B5EF4-FFF2-40B4-BE49-F238E27FC236}">
                <a16:creationId xmlns:a16="http://schemas.microsoft.com/office/drawing/2014/main" id="{4DE12762-6FDD-4A34-8D0C-C7C5D7A0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040" y="578880"/>
            <a:ext cx="1926720" cy="721440"/>
          </a:xfrm>
          <a:prstGeom xmlns:a="http://schemas.openxmlformats.org/drawingml/2006/main" prst="roundRect">
            <a:avLst>
              <a:gd name="adj" fmla="val 8383"/>
            </a:avLst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query-region">
            <a:extLst xmlns:a="http://schemas.openxmlformats.org/drawingml/2006/main">
              <a:ext uri="{FF2B5EF4-FFF2-40B4-BE49-F238E27FC236}">
                <a16:creationId xmlns:a16="http://schemas.microsoft.com/office/drawing/2014/main" id="{C3A442EE-2211-40D0-9565-62EDD145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040" y="1576800"/>
            <a:ext cx="1926720" cy="53568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ossless-encoder-region">
            <a:extLst xmlns:a="http://schemas.openxmlformats.org/drawingml/2006/main">
              <a:ext uri="{FF2B5EF4-FFF2-40B4-BE49-F238E27FC236}">
                <a16:creationId xmlns:a16="http://schemas.microsoft.com/office/drawing/2014/main" id="{4E437F53-F058-410F-8A24-D8156C7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2400" y="578880"/>
            <a:ext cx="1874880" cy="738720"/>
          </a:xfrm>
          <a:prstGeom xmlns:a="http://schemas.openxmlformats.org/drawingml/2006/main" prst="roundRect">
            <a:avLst>
              <a:gd name="adj" fmla="val 0"/>
            </a:avLst>
          </a:prstGeom>
          <a:pattFill xmlns:a="http://schemas.openxmlformats.org/drawingml/2006/main" prst="upDiag">
            <a:fgClr>
              <a:srgbClr val="B9B9B9"/>
            </a:fgClr>
            <a:bgClr>
              <a:srgbClr val="FFFFFF"/>
            </a:bgClr>
          </a:pattFill>
          <a:ln xmlns:a="http://schemas.openxmlformats.org/drawingml/2006/main" w="0">
            <a:noFill/>
            <a:prstDash val="solid"/>
          </a:ln>
        </p:spPr>
      </p:sp>
      <p:sp>
        <p:nvSpPr>
          <p:cNvPr id="4" name="lossless-decoder-region">
            <a:extLst xmlns:a="http://schemas.openxmlformats.org/drawingml/2006/main">
              <a:ext uri="{FF2B5EF4-FFF2-40B4-BE49-F238E27FC236}">
                <a16:creationId xmlns:a16="http://schemas.microsoft.com/office/drawing/2014/main" id="{597EDC49-26BA-49B7-A971-88441DC8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2400" y="1455840"/>
            <a:ext cx="1874880" cy="656640"/>
          </a:xfrm>
          <a:prstGeom xmlns:a="http://schemas.openxmlformats.org/drawingml/2006/main" prst="roundRect">
            <a:avLst>
              <a:gd name="adj" fmla="val 0"/>
            </a:avLst>
          </a:prstGeom>
          <a:pattFill xmlns:a="http://schemas.openxmlformats.org/drawingml/2006/main" prst="dnDiag">
            <a:fgClr>
              <a:srgbClr val="B9B9B9"/>
            </a:fgClr>
            <a:bgClr>
              <a:srgbClr val="FFFFFF"/>
            </a:bgClr>
          </a:pattFill>
          <a:ln xmlns:a="http://schemas.openxmlformats.org/drawingml/2006/main" w="0">
            <a:noFill/>
            <a:prstDash val="solid"/>
          </a:ln>
        </p:spPr>
      </p:sp>
      <p:sp>
        <p:nvSpPr>
          <p:cNvPr id="5" name="persistent-storage">
            <a:extLst xmlns:a="http://schemas.openxmlformats.org/drawingml/2006/main">
              <a:ext uri="{FF2B5EF4-FFF2-40B4-BE49-F238E27FC236}">
                <a16:creationId xmlns:a16="http://schemas.microsoft.com/office/drawing/2014/main" id="{4DEBBCEE-4922-4991-8966-19EF1EA8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8720" y="578880"/>
            <a:ext cx="246240" cy="1533600"/>
          </a:xfrm>
          <a:prstGeom xmlns:a="http://schemas.openxmlformats.org/drawingml/2006/main" prst="roundRect">
            <a:avLst>
              <a:gd name="adj" fmla="val 24561"/>
            </a:avLst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ase-divider-210">
            <a:extLst xmlns:a="http://schemas.openxmlformats.org/drawingml/2006/main">
              <a:ext uri="{FF2B5EF4-FFF2-40B4-BE49-F238E27FC236}">
                <a16:creationId xmlns:a16="http://schemas.microsoft.com/office/drawing/2014/main" id="{911BE17D-49F3-4DBC-91B0-22EE0D5F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00" y="120960"/>
            <a:ext cx="0" cy="2056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480">
            <a:solidFill>
              <a:srgbClr val="444444"/>
            </a:solidFill>
            <a:prstDash val="dash"/>
          </a:ln>
        </p:spPr>
      </p:sp>
      <p:sp>
        <p:nvSpPr>
          <p:cNvPr id="7" name="phase-divider-808">
            <a:extLst xmlns:a="http://schemas.openxmlformats.org/drawingml/2006/main">
              <a:ext uri="{FF2B5EF4-FFF2-40B4-BE49-F238E27FC236}">
                <a16:creationId xmlns:a16="http://schemas.microsoft.com/office/drawing/2014/main" id="{C7A2F23B-6BD9-495D-86EE-EB2567D8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560" y="120960"/>
            <a:ext cx="0" cy="2056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480">
            <a:solidFill>
              <a:srgbClr val="444444"/>
            </a:solidFill>
            <a:prstDash val="dash"/>
          </a:ln>
        </p:spPr>
      </p:sp>
      <p:sp>
        <p:nvSpPr>
          <p:cNvPr id="8" name="phase-divider-1398">
            <a:extLst xmlns:a="http://schemas.openxmlformats.org/drawingml/2006/main">
              <a:ext uri="{FF2B5EF4-FFF2-40B4-BE49-F238E27FC236}">
                <a16:creationId xmlns:a16="http://schemas.microsoft.com/office/drawing/2014/main" id="{AF273B95-1ABE-4704-A817-921FB54F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360" y="120960"/>
            <a:ext cx="0" cy="2056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480">
            <a:solidFill>
              <a:srgbClr val="444444"/>
            </a:solidFill>
            <a:prstDash val="dash"/>
          </a:ln>
        </p:spPr>
      </p:sp>
      <p:sp>
        <p:nvSpPr>
          <p:cNvPr id="9" name="source-field">
            <a:extLst xmlns:a="http://schemas.openxmlformats.org/drawingml/2006/main">
              <a:ext uri="{FF2B5EF4-FFF2-40B4-BE49-F238E27FC236}">
                <a16:creationId xmlns:a16="http://schemas.microsoft.com/office/drawing/2014/main" id="{91737229-781D-4782-A3FC-F145DAC0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00" y="682560"/>
            <a:ext cx="691200" cy="5443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0" name="backward-pass">
            <a:extLst xmlns:a="http://schemas.openxmlformats.org/drawingml/2006/main">
              <a:ext uri="{FF2B5EF4-FFF2-40B4-BE49-F238E27FC236}">
                <a16:creationId xmlns:a16="http://schemas.microsoft.com/office/drawing/2014/main" id="{4B269AD9-444F-42E5-A1ED-3DD75F1F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800" y="635040"/>
            <a:ext cx="777600" cy="6048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1" name="forward-pass">
            <a:extLst xmlns:a="http://schemas.openxmlformats.org/drawingml/2006/main">
              <a:ext uri="{FF2B5EF4-FFF2-40B4-BE49-F238E27FC236}">
                <a16:creationId xmlns:a16="http://schemas.microsoft.com/office/drawing/2014/main" id="{78244100-32BD-45F7-98DD-C9346E9F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3120" y="635040"/>
            <a:ext cx="794880" cy="6048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2" name="quantized-field">
            <a:extLst xmlns:a="http://schemas.openxmlformats.org/drawingml/2006/main">
              <a:ext uri="{FF2B5EF4-FFF2-40B4-BE49-F238E27FC236}">
                <a16:creationId xmlns:a16="http://schemas.microsoft.com/office/drawing/2014/main" id="{32F114EA-80BA-4916-ABFA-29FCB23A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4000" y="578880"/>
            <a:ext cx="410400" cy="153360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3" name="split-field">
            <a:extLst xmlns:a="http://schemas.openxmlformats.org/drawingml/2006/main">
              <a:ext uri="{FF2B5EF4-FFF2-40B4-BE49-F238E27FC236}">
                <a16:creationId xmlns:a16="http://schemas.microsoft.com/office/drawing/2014/main" id="{655BE998-78C9-460B-8767-7067A9E8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7200" y="695520"/>
            <a:ext cx="613440" cy="518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4" name="quotient-encoder">
            <a:extLst xmlns:a="http://schemas.openxmlformats.org/drawingml/2006/main">
              <a:ext uri="{FF2B5EF4-FFF2-40B4-BE49-F238E27FC236}">
                <a16:creationId xmlns:a16="http://schemas.microsoft.com/office/drawing/2014/main" id="{1AEEA265-647F-4546-8172-552B63C4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9200" y="622080"/>
            <a:ext cx="76032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5" name="remainder-encoder">
            <a:extLst xmlns:a="http://schemas.openxmlformats.org/drawingml/2006/main">
              <a:ext uri="{FF2B5EF4-FFF2-40B4-BE49-F238E27FC236}">
                <a16:creationId xmlns:a16="http://schemas.microsoft.com/office/drawing/2014/main" id="{DA7F891B-06FA-43E2-85F7-42405BA9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9200" y="984960"/>
            <a:ext cx="76032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6" name="compressed-file">
            <a:extLst xmlns:a="http://schemas.openxmlformats.org/drawingml/2006/main">
              <a:ext uri="{FF2B5EF4-FFF2-40B4-BE49-F238E27FC236}">
                <a16:creationId xmlns:a16="http://schemas.microsoft.com/office/drawing/2014/main" id="{8C6DDD78-EAD9-40A1-B238-8F33FB5E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000" y="578880"/>
            <a:ext cx="444960" cy="153360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7" name="recombine-field">
            <a:extLst xmlns:a="http://schemas.openxmlformats.org/drawingml/2006/main">
              <a:ext uri="{FF2B5EF4-FFF2-40B4-BE49-F238E27FC236}">
                <a16:creationId xmlns:a16="http://schemas.microsoft.com/office/drawing/2014/main" id="{2982FB27-A2DF-48C1-801C-F90260D3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7200" y="1520640"/>
            <a:ext cx="613440" cy="52704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8" name="quotient-decoder">
            <a:extLst xmlns:a="http://schemas.openxmlformats.org/drawingml/2006/main">
              <a:ext uri="{FF2B5EF4-FFF2-40B4-BE49-F238E27FC236}">
                <a16:creationId xmlns:a16="http://schemas.microsoft.com/office/drawing/2014/main" id="{C0884316-0913-4819-9BDD-36561301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9200" y="1468800"/>
            <a:ext cx="760320" cy="27648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19" name="remainder-decoder">
            <a:extLst xmlns:a="http://schemas.openxmlformats.org/drawingml/2006/main">
              <a:ext uri="{FF2B5EF4-FFF2-40B4-BE49-F238E27FC236}">
                <a16:creationId xmlns:a16="http://schemas.microsoft.com/office/drawing/2014/main" id="{B1FEF1D6-CA76-41F3-AFEA-0EFB93D0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9200" y="1823040"/>
            <a:ext cx="760320" cy="27648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20" name="prefix-tables">
            <a:extLst xmlns:a="http://schemas.openxmlformats.org/drawingml/2006/main">
              <a:ext uri="{FF2B5EF4-FFF2-40B4-BE49-F238E27FC236}">
                <a16:creationId xmlns:a16="http://schemas.microsoft.com/office/drawing/2014/main" id="{E65CCFB4-D1B0-49CA-B736-E27F687C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3120" y="1645920"/>
            <a:ext cx="794880" cy="4147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21" name="four-corner-query">
            <a:extLst xmlns:a="http://schemas.openxmlformats.org/drawingml/2006/main">
              <a:ext uri="{FF2B5EF4-FFF2-40B4-BE49-F238E27FC236}">
                <a16:creationId xmlns:a16="http://schemas.microsoft.com/office/drawing/2014/main" id="{DA095935-15BD-4A55-B6B5-99E08BA0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800" y="1645920"/>
            <a:ext cx="777600" cy="4147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22" name="regional-output">
            <a:extLst xmlns:a="http://schemas.openxmlformats.org/drawingml/2006/main">
              <a:ext uri="{FF2B5EF4-FFF2-40B4-BE49-F238E27FC236}">
                <a16:creationId xmlns:a16="http://schemas.microsoft.com/office/drawing/2014/main" id="{CA13F17E-B196-4155-8ABF-20FC2B7E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00" y="1645920"/>
            <a:ext cx="691200" cy="4147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32">
            <a:solidFill>
              <a:srgbClr val="202020"/>
            </a:solidFill>
            <a:prstDash val="solid"/>
          </a:ln>
        </p:spPr>
      </p:sp>
      <p:sp>
        <p:nvSpPr>
          <p:cNvPr id="23" name="input-to-backward-from">
            <a:extLst xmlns:a="http://schemas.openxmlformats.org/drawingml/2006/main">
              <a:ext uri="{FF2B5EF4-FFF2-40B4-BE49-F238E27FC236}">
                <a16:creationId xmlns:a16="http://schemas.microsoft.com/office/drawing/2014/main" id="{4551E0FD-EC91-4EFD-8152-CE6A7F09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52" y="9497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input-to-backward-to">
            <a:extLst xmlns:a="http://schemas.openxmlformats.org/drawingml/2006/main">
              <a:ext uri="{FF2B5EF4-FFF2-40B4-BE49-F238E27FC236}">
                <a16:creationId xmlns:a16="http://schemas.microsoft.com/office/drawing/2014/main" id="{E9D75857-7AD8-4370-AF24-1DE59083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52" y="9497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21448" y="950400"/>
            <a:ext cx="21470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26" name="backward-to-forward-from">
            <a:extLst xmlns:a="http://schemas.openxmlformats.org/drawingml/2006/main">
              <a:ext uri="{FF2B5EF4-FFF2-40B4-BE49-F238E27FC236}">
                <a16:creationId xmlns:a16="http://schemas.microsoft.com/office/drawing/2014/main" id="{0067CD54-14DE-4E3A-A5B5-96ECFEF0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752" y="9497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backward-to-forward-to">
            <a:extLst xmlns:a="http://schemas.openxmlformats.org/drawingml/2006/main">
              <a:ext uri="{FF2B5EF4-FFF2-40B4-BE49-F238E27FC236}">
                <a16:creationId xmlns:a16="http://schemas.microsoft.com/office/drawing/2014/main" id="{D62044D8-1466-4BFD-BE5D-E78684B7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472" y="9497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815048" y="950400"/>
            <a:ext cx="19742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29" name="forward-to-field-from">
            <a:extLst xmlns:a="http://schemas.openxmlformats.org/drawingml/2006/main">
              <a:ext uri="{FF2B5EF4-FFF2-40B4-BE49-F238E27FC236}">
                <a16:creationId xmlns:a16="http://schemas.microsoft.com/office/drawing/2014/main" id="{12CC74D3-12C0-4EFB-A5B2-754AC058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352" y="9497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forward-to-field-to">
            <a:extLst xmlns:a="http://schemas.openxmlformats.org/drawingml/2006/main">
              <a:ext uri="{FF2B5EF4-FFF2-40B4-BE49-F238E27FC236}">
                <a16:creationId xmlns:a16="http://schemas.microsoft.com/office/drawing/2014/main" id="{505F754F-CA4A-4367-8E14-4C3620BA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352" y="9497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808648" y="950400"/>
            <a:ext cx="21470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32" name="field-to-split-from">
            <a:extLst xmlns:a="http://schemas.openxmlformats.org/drawingml/2006/main">
              <a:ext uri="{FF2B5EF4-FFF2-40B4-BE49-F238E27FC236}">
                <a16:creationId xmlns:a16="http://schemas.microsoft.com/office/drawing/2014/main" id="{5D9CA97C-20E1-4FEA-A7C1-F5B9E108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52" y="9497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field-to-split-to">
            <a:extLst xmlns:a="http://schemas.openxmlformats.org/drawingml/2006/main">
              <a:ext uri="{FF2B5EF4-FFF2-40B4-BE49-F238E27FC236}">
                <a16:creationId xmlns:a16="http://schemas.microsoft.com/office/drawing/2014/main" id="{047D004D-AADE-47CD-99A0-AF46EDBF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552" y="9497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3435048" y="950400"/>
            <a:ext cx="17150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35" name="quotient-to-encoder-from">
            <a:extLst xmlns:a="http://schemas.openxmlformats.org/drawingml/2006/main">
              <a:ext uri="{FF2B5EF4-FFF2-40B4-BE49-F238E27FC236}">
                <a16:creationId xmlns:a16="http://schemas.microsoft.com/office/drawing/2014/main" id="{C488F09E-28B9-47F9-9AAF-6D5FB59B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992" y="772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quotient-to-encoder-to">
            <a:extLst xmlns:a="http://schemas.openxmlformats.org/drawingml/2006/main">
              <a:ext uri="{FF2B5EF4-FFF2-40B4-BE49-F238E27FC236}">
                <a16:creationId xmlns:a16="http://schemas.microsoft.com/office/drawing/2014/main" id="{504BD8EB-CD5C-407B-9441-CE5FF0C4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552" y="772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221288" y="773280"/>
            <a:ext cx="35726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38" name="remainder-to-encoder-from">
            <a:extLst xmlns:a="http://schemas.openxmlformats.org/drawingml/2006/main">
              <a:ext uri="{FF2B5EF4-FFF2-40B4-BE49-F238E27FC236}">
                <a16:creationId xmlns:a16="http://schemas.microsoft.com/office/drawing/2014/main" id="{796AD00F-1DE3-4247-883E-B54746CD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992" y="113551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remainder-to-encoder-to">
            <a:extLst xmlns:a="http://schemas.openxmlformats.org/drawingml/2006/main">
              <a:ext uri="{FF2B5EF4-FFF2-40B4-BE49-F238E27FC236}">
                <a16:creationId xmlns:a16="http://schemas.microsoft.com/office/drawing/2014/main" id="{C2DEA837-3E6C-49AD-BB0C-E50CB1E6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552" y="113551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4221288" y="1136160"/>
            <a:ext cx="35726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41" name="quotient-to-file-from">
            <a:extLst xmlns:a="http://schemas.openxmlformats.org/drawingml/2006/main">
              <a:ext uri="{FF2B5EF4-FFF2-40B4-BE49-F238E27FC236}">
                <a16:creationId xmlns:a16="http://schemas.microsoft.com/office/drawing/2014/main" id="{8D841C0F-7C2A-4132-9066-6EA72331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872" y="772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quotient-to-file-to">
            <a:extLst xmlns:a="http://schemas.openxmlformats.org/drawingml/2006/main">
              <a:ext uri="{FF2B5EF4-FFF2-40B4-BE49-F238E27FC236}">
                <a16:creationId xmlns:a16="http://schemas.microsoft.com/office/drawing/2014/main" id="{6BE2BFF5-B768-4ECC-8016-DBF695AF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352" y="772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5340168" y="773280"/>
            <a:ext cx="16718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44" name="remainder-to-file-from">
            <a:extLst xmlns:a="http://schemas.openxmlformats.org/drawingml/2006/main">
              <a:ext uri="{FF2B5EF4-FFF2-40B4-BE49-F238E27FC236}">
                <a16:creationId xmlns:a16="http://schemas.microsoft.com/office/drawing/2014/main" id="{3F0A6BAD-4B15-4869-8FB5-397AC8B2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872" y="113551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remainder-to-file-to">
            <a:extLst xmlns:a="http://schemas.openxmlformats.org/drawingml/2006/main">
              <a:ext uri="{FF2B5EF4-FFF2-40B4-BE49-F238E27FC236}">
                <a16:creationId xmlns:a16="http://schemas.microsoft.com/office/drawing/2014/main" id="{F0F64D8B-C8C2-4918-B6A0-8BEF7B04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352" y="113551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340168" y="1136160"/>
            <a:ext cx="16718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47" name="file-to-storage-from">
            <a:extLst xmlns:a="http://schemas.openxmlformats.org/drawingml/2006/main">
              <a:ext uri="{FF2B5EF4-FFF2-40B4-BE49-F238E27FC236}">
                <a16:creationId xmlns:a16="http://schemas.microsoft.com/office/drawing/2014/main" id="{473CF75E-0834-4B05-BBA0-EDE8C9F3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312" y="9497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file-to-storage-to">
            <a:extLst xmlns:a="http://schemas.openxmlformats.org/drawingml/2006/main">
              <a:ext uri="{FF2B5EF4-FFF2-40B4-BE49-F238E27FC236}">
                <a16:creationId xmlns:a16="http://schemas.microsoft.com/office/drawing/2014/main" id="{9C76925E-23D9-4EDD-8BE4-DBB6DC31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072" y="94975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5953608" y="950400"/>
            <a:ext cx="18446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50" name="storage-to-file-from">
            <a:extLst xmlns:a="http://schemas.openxmlformats.org/drawingml/2006/main">
              <a:ext uri="{FF2B5EF4-FFF2-40B4-BE49-F238E27FC236}">
                <a16:creationId xmlns:a16="http://schemas.microsoft.com/office/drawing/2014/main" id="{754E6CE8-F9F0-4E7E-8473-5A4D8377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072" y="1852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storage-to-file-to">
            <a:extLst xmlns:a="http://schemas.openxmlformats.org/drawingml/2006/main">
              <a:ext uri="{FF2B5EF4-FFF2-40B4-BE49-F238E27FC236}">
                <a16:creationId xmlns:a16="http://schemas.microsoft.com/office/drawing/2014/main" id="{871C40D2-0391-4CD0-94A6-D95223D6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312" y="1852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50" idx="1"/>
            <a:endCxn xmlns:a="http://schemas.openxmlformats.org/drawingml/2006/main" id="51" idx="3"/>
          </p:cNvCxnSpPr>
          <p:nvPr/>
        </p:nvCxnSpPr>
        <p:spPr>
          <a:xfrm xmlns:a="http://schemas.openxmlformats.org/drawingml/2006/main" flipH="1">
            <a:off x="5953608" y="1853280"/>
            <a:ext cx="18446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53" name="file-to-quotient-decoder-from">
            <a:extLst xmlns:a="http://schemas.openxmlformats.org/drawingml/2006/main">
              <a:ext uri="{FF2B5EF4-FFF2-40B4-BE49-F238E27FC236}">
                <a16:creationId xmlns:a16="http://schemas.microsoft.com/office/drawing/2014/main" id="{D5FC1FD1-0851-404D-A829-9F4D9363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352" y="160639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file-to-quotient-decoder-to">
            <a:extLst xmlns:a="http://schemas.openxmlformats.org/drawingml/2006/main">
              <a:ext uri="{FF2B5EF4-FFF2-40B4-BE49-F238E27FC236}">
                <a16:creationId xmlns:a16="http://schemas.microsoft.com/office/drawing/2014/main" id="{C396A2A3-D261-420E-9476-70B37EFC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872" y="160639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53" idx="1"/>
            <a:endCxn xmlns:a="http://schemas.openxmlformats.org/drawingml/2006/main" id="54" idx="3"/>
          </p:cNvCxnSpPr>
          <p:nvPr/>
        </p:nvCxnSpPr>
        <p:spPr>
          <a:xfrm xmlns:a="http://schemas.openxmlformats.org/drawingml/2006/main" flipH="1">
            <a:off x="5340168" y="1607040"/>
            <a:ext cx="16718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56" name="file-to-remainder-decoder-from">
            <a:extLst xmlns:a="http://schemas.openxmlformats.org/drawingml/2006/main">
              <a:ext uri="{FF2B5EF4-FFF2-40B4-BE49-F238E27FC236}">
                <a16:creationId xmlns:a16="http://schemas.microsoft.com/office/drawing/2014/main" id="{91451F00-20EC-4D7D-8E19-5AD672B4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352" y="1960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file-to-remainder-decoder-to">
            <a:extLst xmlns:a="http://schemas.openxmlformats.org/drawingml/2006/main">
              <a:ext uri="{FF2B5EF4-FFF2-40B4-BE49-F238E27FC236}">
                <a16:creationId xmlns:a16="http://schemas.microsoft.com/office/drawing/2014/main" id="{BCC093C3-CBC1-4D5D-B599-69CF1A47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872" y="1960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56" idx="1"/>
            <a:endCxn xmlns:a="http://schemas.openxmlformats.org/drawingml/2006/main" id="57" idx="3"/>
          </p:cNvCxnSpPr>
          <p:nvPr/>
        </p:nvCxnSpPr>
        <p:spPr>
          <a:xfrm xmlns:a="http://schemas.openxmlformats.org/drawingml/2006/main" flipH="1">
            <a:off x="5340168" y="1961280"/>
            <a:ext cx="16718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59" name="quotient-to-recombine-from">
            <a:extLst xmlns:a="http://schemas.openxmlformats.org/drawingml/2006/main">
              <a:ext uri="{FF2B5EF4-FFF2-40B4-BE49-F238E27FC236}">
                <a16:creationId xmlns:a16="http://schemas.microsoft.com/office/drawing/2014/main" id="{3D5D807C-5F70-4C10-AFE9-CB133F78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552" y="160639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quotient-to-recombine-to">
            <a:extLst xmlns:a="http://schemas.openxmlformats.org/drawingml/2006/main">
              <a:ext uri="{FF2B5EF4-FFF2-40B4-BE49-F238E27FC236}">
                <a16:creationId xmlns:a16="http://schemas.microsoft.com/office/drawing/2014/main" id="{DB3121E3-CE0F-4EBB-A1AA-6D7C82C4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992" y="160639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59" idx="1"/>
            <a:endCxn xmlns:a="http://schemas.openxmlformats.org/drawingml/2006/main" id="60" idx="3"/>
          </p:cNvCxnSpPr>
          <p:nvPr/>
        </p:nvCxnSpPr>
        <p:spPr>
          <a:xfrm xmlns:a="http://schemas.openxmlformats.org/drawingml/2006/main" flipH="1">
            <a:off x="4221288" y="1607040"/>
            <a:ext cx="35726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62" name="remainder-to-recombine-from">
            <a:extLst xmlns:a="http://schemas.openxmlformats.org/drawingml/2006/main">
              <a:ext uri="{FF2B5EF4-FFF2-40B4-BE49-F238E27FC236}">
                <a16:creationId xmlns:a16="http://schemas.microsoft.com/office/drawing/2014/main" id="{6EFB2066-4255-400C-BBF8-606C45C1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552" y="1960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remainder-to-recombine-to">
            <a:extLst xmlns:a="http://schemas.openxmlformats.org/drawingml/2006/main">
              <a:ext uri="{FF2B5EF4-FFF2-40B4-BE49-F238E27FC236}">
                <a16:creationId xmlns:a16="http://schemas.microsoft.com/office/drawing/2014/main" id="{024ED862-FAD6-4469-A1D6-DE218D01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992" y="1960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62" idx="1"/>
            <a:endCxn xmlns:a="http://schemas.openxmlformats.org/drawingml/2006/main" id="63" idx="3"/>
          </p:cNvCxnSpPr>
          <p:nvPr/>
        </p:nvCxnSpPr>
        <p:spPr>
          <a:xfrm xmlns:a="http://schemas.openxmlformats.org/drawingml/2006/main" flipH="1">
            <a:off x="4221288" y="1961280"/>
            <a:ext cx="35726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65" name="recombine-to-field-from">
            <a:extLst xmlns:a="http://schemas.openxmlformats.org/drawingml/2006/main">
              <a:ext uri="{FF2B5EF4-FFF2-40B4-BE49-F238E27FC236}">
                <a16:creationId xmlns:a16="http://schemas.microsoft.com/office/drawing/2014/main" id="{50858E77-ABB3-4436-B00C-5837A4C2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552" y="1852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recombine-to-field-to">
            <a:extLst xmlns:a="http://schemas.openxmlformats.org/drawingml/2006/main">
              <a:ext uri="{FF2B5EF4-FFF2-40B4-BE49-F238E27FC236}">
                <a16:creationId xmlns:a16="http://schemas.microsoft.com/office/drawing/2014/main" id="{267D5895-8BC3-45E2-AB66-D87FF798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52" y="1852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65" idx="1"/>
            <a:endCxn xmlns:a="http://schemas.openxmlformats.org/drawingml/2006/main" id="66" idx="3"/>
          </p:cNvCxnSpPr>
          <p:nvPr/>
        </p:nvCxnSpPr>
        <p:spPr>
          <a:xfrm xmlns:a="http://schemas.openxmlformats.org/drawingml/2006/main" flipH="1">
            <a:off x="3435048" y="1853280"/>
            <a:ext cx="17150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68" name="field-to-prefix-from">
            <a:extLst xmlns:a="http://schemas.openxmlformats.org/drawingml/2006/main">
              <a:ext uri="{FF2B5EF4-FFF2-40B4-BE49-F238E27FC236}">
                <a16:creationId xmlns:a16="http://schemas.microsoft.com/office/drawing/2014/main" id="{43A8D999-AF5F-45BD-88D7-7A06C843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352" y="1852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field-to-prefix-to">
            <a:extLst xmlns:a="http://schemas.openxmlformats.org/drawingml/2006/main">
              <a:ext uri="{FF2B5EF4-FFF2-40B4-BE49-F238E27FC236}">
                <a16:creationId xmlns:a16="http://schemas.microsoft.com/office/drawing/2014/main" id="{DFBB8984-B413-4408-B14F-560DC6F3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352" y="1852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68" idx="1"/>
            <a:endCxn xmlns:a="http://schemas.openxmlformats.org/drawingml/2006/main" id="69" idx="3"/>
          </p:cNvCxnSpPr>
          <p:nvPr/>
        </p:nvCxnSpPr>
        <p:spPr>
          <a:xfrm xmlns:a="http://schemas.openxmlformats.org/drawingml/2006/main" flipH="1">
            <a:off x="2808648" y="1853280"/>
            <a:ext cx="21470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71" name="prefix-to-queries-from">
            <a:extLst xmlns:a="http://schemas.openxmlformats.org/drawingml/2006/main">
              <a:ext uri="{FF2B5EF4-FFF2-40B4-BE49-F238E27FC236}">
                <a16:creationId xmlns:a16="http://schemas.microsoft.com/office/drawing/2014/main" id="{F201EFDE-B255-4777-B379-51CF0468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472" y="1852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prefix-to-queries-to">
            <a:extLst xmlns:a="http://schemas.openxmlformats.org/drawingml/2006/main">
              <a:ext uri="{FF2B5EF4-FFF2-40B4-BE49-F238E27FC236}">
                <a16:creationId xmlns:a16="http://schemas.microsoft.com/office/drawing/2014/main" id="{2EB728AB-F0E0-444B-9EE5-D7AB43E6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752" y="1852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71" idx="1"/>
            <a:endCxn xmlns:a="http://schemas.openxmlformats.org/drawingml/2006/main" id="72" idx="3"/>
          </p:cNvCxnSpPr>
          <p:nvPr/>
        </p:nvCxnSpPr>
        <p:spPr>
          <a:xfrm xmlns:a="http://schemas.openxmlformats.org/drawingml/2006/main" flipH="1">
            <a:off x="1815048" y="1853280"/>
            <a:ext cx="19742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74" name="queries-to-measurements-from">
            <a:extLst xmlns:a="http://schemas.openxmlformats.org/drawingml/2006/main">
              <a:ext uri="{FF2B5EF4-FFF2-40B4-BE49-F238E27FC236}">
                <a16:creationId xmlns:a16="http://schemas.microsoft.com/office/drawing/2014/main" id="{7C920CC9-B6E3-4088-816F-A017111D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52" y="1852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queries-to-measurements-to">
            <a:extLst xmlns:a="http://schemas.openxmlformats.org/drawingml/2006/main">
              <a:ext uri="{FF2B5EF4-FFF2-40B4-BE49-F238E27FC236}">
                <a16:creationId xmlns:a16="http://schemas.microsoft.com/office/drawing/2014/main" id="{454CF113-F12F-4666-85C7-0E69DDF0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52" y="1852632"/>
            <a:ext cx="1296" cy="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" name=""/>
          <p:cNvCxnSpPr>
            <a:stCxn xmlns:a="http://schemas.openxmlformats.org/drawingml/2006/main" id="74" idx="1"/>
            <a:endCxn xmlns:a="http://schemas.openxmlformats.org/drawingml/2006/main" id="75" idx="3"/>
          </p:cNvCxnSpPr>
          <p:nvPr/>
        </p:nvCxnSpPr>
        <p:spPr>
          <a:xfrm xmlns:a="http://schemas.openxmlformats.org/drawingml/2006/main" flipH="1">
            <a:off x="821448" y="1853280"/>
            <a:ext cx="214704" cy="0"/>
          </a:xfrm>
          <a:prstGeom xmlns:a="http://schemas.openxmlformats.org/drawingml/2006/main" prst="straightConnector1">
            <a:avLst/>
          </a:prstGeom>
          <a:ln xmlns:a="http://schemas.openxmlformats.org/drawingml/2006/main" w="6480">
            <a:solidFill>
              <a:srgbClr val="505050"/>
            </a:solidFill>
            <a:prstDash val="solid"/>
            <a:tailEnd type="arrow" w="sm" len="sm"/>
          </a:ln>
        </p:spPr>
      </p:cxnSp>
      <p:sp>
        <p:nvSpPr>
          <p:cNvPr id="77" name="construction-heading">
            <a:extLst xmlns:a="http://schemas.openxmlformats.org/drawingml/2006/main">
              <a:ext uri="{FF2B5EF4-FFF2-40B4-BE49-F238E27FC236}">
                <a16:creationId xmlns:a16="http://schemas.microsoft.com/office/drawing/2014/main" id="{A6BEFB51-7A06-4C86-B59A-E56B2805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040" y="103680"/>
            <a:ext cx="247536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3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3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RangeRectQuant</a:t>
            </a:r>
          </a:p>
        </p:txBody>
      </p:sp>
      <p:sp>
        <p:nvSpPr>
          <p:cNvPr id="78" name="construction-subheading">
            <a:extLst xmlns:a="http://schemas.openxmlformats.org/drawingml/2006/main">
              <a:ext uri="{FF2B5EF4-FFF2-40B4-BE49-F238E27FC236}">
                <a16:creationId xmlns:a16="http://schemas.microsoft.com/office/drawing/2014/main" id="{FFA70117-716F-41C1-AC3A-508D34D5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040" y="285120"/>
            <a:ext cx="2475360" cy="13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Field construction (lossy)</a:t>
            </a:r>
          </a:p>
        </p:txBody>
      </p:sp>
      <p:sp>
        <p:nvSpPr>
          <p:cNvPr id="79" name="encoder-heading">
            <a:extLst xmlns:a="http://schemas.openxmlformats.org/drawingml/2006/main">
              <a:ext uri="{FF2B5EF4-FFF2-40B4-BE49-F238E27FC236}">
                <a16:creationId xmlns:a16="http://schemas.microsoft.com/office/drawing/2014/main" id="{63FE221F-501B-46C0-8705-BDA0065A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2400" y="103680"/>
            <a:ext cx="187488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3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3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Encoding phase</a:t>
            </a:r>
          </a:p>
        </p:txBody>
      </p:sp>
      <p:sp>
        <p:nvSpPr>
          <p:cNvPr id="80" name="encoder-subheading">
            <a:extLst xmlns:a="http://schemas.openxmlformats.org/drawingml/2006/main">
              <a:ext uri="{FF2B5EF4-FFF2-40B4-BE49-F238E27FC236}">
                <a16:creationId xmlns:a16="http://schemas.microsoft.com/office/drawing/2014/main" id="{98FF4DF6-3DF8-4D80-A697-6217ACE7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2400" y="285120"/>
            <a:ext cx="1874880" cy="13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lossless</a:t>
            </a:r>
          </a:p>
        </p:txBody>
      </p:sp>
      <p:sp>
        <p:nvSpPr>
          <p:cNvPr id="81" name="parameters">
            <a:extLst xmlns:a="http://schemas.openxmlformats.org/drawingml/2006/main">
              <a:ext uri="{FF2B5EF4-FFF2-40B4-BE49-F238E27FC236}">
                <a16:creationId xmlns:a16="http://schemas.microsoft.com/office/drawing/2014/main" id="{21E05FF0-FF02-40BE-B3E3-DE41B9D4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40" y="440640"/>
            <a:ext cx="188352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6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6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 = ⌊ε/4⌋,  q,  U,  protected set P</a:t>
            </a:r>
          </a:p>
        </p:txBody>
      </p:sp>
      <p:sp>
        <p:nvSpPr>
          <p:cNvPr id="82" name="decoder-heading">
            <a:extLst xmlns:a="http://schemas.openxmlformats.org/drawingml/2006/main">
              <a:ext uri="{FF2B5EF4-FFF2-40B4-BE49-F238E27FC236}">
                <a16:creationId xmlns:a16="http://schemas.microsoft.com/office/drawing/2014/main" id="{CE0E334E-1A22-402E-AD8A-09DB1751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2400" y="1321920"/>
            <a:ext cx="1874880" cy="13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8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8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Source-free decoding</a:t>
            </a:r>
          </a:p>
        </p:txBody>
      </p:sp>
      <p:sp>
        <p:nvSpPr>
          <p:cNvPr id="83" name="query-heading">
            <a:extLst xmlns:a="http://schemas.openxmlformats.org/drawingml/2006/main">
              <a:ext uri="{FF2B5EF4-FFF2-40B4-BE49-F238E27FC236}">
                <a16:creationId xmlns:a16="http://schemas.microsoft.com/office/drawing/2014/main" id="{6F2C38E7-9803-401D-BCB0-72F9B225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040" y="1416960"/>
            <a:ext cx="1926720" cy="14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8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8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Queries after decoding</a:t>
            </a:r>
          </a:p>
        </p:txBody>
      </p:sp>
      <p:sp>
        <p:nvSpPr>
          <p:cNvPr id="84" name="source-title-line-1">
            <a:extLst xmlns:a="http://schemas.openxmlformats.org/drawingml/2006/main">
              <a:ext uri="{FF2B5EF4-FFF2-40B4-BE49-F238E27FC236}">
                <a16:creationId xmlns:a16="http://schemas.microsoft.com/office/drawing/2014/main" id="{F8E9EFF8-5D10-4FDF-8F47-55CA307F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800" y="750816"/>
            <a:ext cx="604800" cy="134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Original</a:t>
            </a:r>
          </a:p>
        </p:txBody>
      </p:sp>
      <p:sp>
        <p:nvSpPr>
          <p:cNvPr id="85" name="source-title-line-2">
            <a:extLst xmlns:a="http://schemas.openxmlformats.org/drawingml/2006/main">
              <a:ext uri="{FF2B5EF4-FFF2-40B4-BE49-F238E27FC236}">
                <a16:creationId xmlns:a16="http://schemas.microsoft.com/office/drawing/2014/main" id="{5FE385AC-81D4-4931-9559-66A24CF5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800" y="885600"/>
            <a:ext cx="604800" cy="134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field X</a:t>
            </a:r>
          </a:p>
        </p:txBody>
      </p:sp>
      <p:sp>
        <p:nvSpPr>
          <p:cNvPr id="86" name="source-body">
            <a:extLst xmlns:a="http://schemas.openxmlformats.org/drawingml/2006/main">
              <a:ext uri="{FF2B5EF4-FFF2-40B4-BE49-F238E27FC236}">
                <a16:creationId xmlns:a16="http://schemas.microsoft.com/office/drawing/2014/main" id="{13D9B020-BF94-4C6B-8B88-EA2FC091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520" y="1071360"/>
            <a:ext cx="639360" cy="10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bounded integers</a:t>
            </a:r>
          </a:p>
        </p:txBody>
      </p:sp>
      <p:sp>
        <p:nvSpPr>
          <p:cNvPr id="87" name="backward-title-line-1">
            <a:extLst xmlns:a="http://schemas.openxmlformats.org/drawingml/2006/main">
              <a:ext uri="{FF2B5EF4-FFF2-40B4-BE49-F238E27FC236}">
                <a16:creationId xmlns:a16="http://schemas.microsoft.com/office/drawing/2014/main" id="{78C96FE4-F17B-43B1-A90C-2E0A882C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360" y="664762"/>
            <a:ext cx="708480" cy="125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Backward</a:t>
            </a:r>
          </a:p>
        </p:txBody>
      </p:sp>
      <p:sp>
        <p:nvSpPr>
          <p:cNvPr id="88" name="backward-title-line-2">
            <a:extLst xmlns:a="http://schemas.openxmlformats.org/drawingml/2006/main">
              <a:ext uri="{FF2B5EF4-FFF2-40B4-BE49-F238E27FC236}">
                <a16:creationId xmlns:a16="http://schemas.microsoft.com/office/drawing/2014/main" id="{3F9A4748-89E8-4C08-95A9-63B3DF4B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360" y="790560"/>
            <a:ext cx="708480" cy="125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feasibility</a:t>
            </a:r>
          </a:p>
        </p:txBody>
      </p:sp>
      <p:sp>
        <p:nvSpPr>
          <p:cNvPr id="89" name="backward-body-line-1">
            <a:extLst xmlns:a="http://schemas.openxmlformats.org/drawingml/2006/main">
              <a:ext uri="{FF2B5EF4-FFF2-40B4-BE49-F238E27FC236}">
                <a16:creationId xmlns:a16="http://schemas.microsoft.com/office/drawing/2014/main" id="{93A996B5-3B63-400C-AB8E-1691B9A5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040" y="994118"/>
            <a:ext cx="717120" cy="98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48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48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Remaining-row</a:t>
            </a:r>
          </a:p>
        </p:txBody>
      </p:sp>
      <p:sp>
        <p:nvSpPr>
          <p:cNvPr id="90" name="backward-body-line-2">
            <a:extLst xmlns:a="http://schemas.openxmlformats.org/drawingml/2006/main">
              <a:ext uri="{FF2B5EF4-FFF2-40B4-BE49-F238E27FC236}">
                <a16:creationId xmlns:a16="http://schemas.microsoft.com/office/drawing/2014/main" id="{D5859CB5-3FCF-4C62-8A32-84A31C04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040" y="1092960"/>
            <a:ext cx="717120" cy="98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48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48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feasible intervals</a:t>
            </a:r>
          </a:p>
        </p:txBody>
      </p:sp>
      <p:sp>
        <p:nvSpPr>
          <p:cNvPr id="91" name="forward-title-line-1">
            <a:extLst xmlns:a="http://schemas.openxmlformats.org/drawingml/2006/main">
              <a:ext uri="{FF2B5EF4-FFF2-40B4-BE49-F238E27FC236}">
                <a16:creationId xmlns:a16="http://schemas.microsoft.com/office/drawing/2014/main" id="{9534C963-56AC-40EE-B759-BA75CBE2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680" y="664762"/>
            <a:ext cx="725760" cy="125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Forward</a:t>
            </a:r>
          </a:p>
        </p:txBody>
      </p:sp>
      <p:sp>
        <p:nvSpPr>
          <p:cNvPr id="92" name="forward-title-line-2">
            <a:extLst xmlns:a="http://schemas.openxmlformats.org/drawingml/2006/main">
              <a:ext uri="{FF2B5EF4-FFF2-40B4-BE49-F238E27FC236}">
                <a16:creationId xmlns:a16="http://schemas.microsoft.com/office/drawing/2014/main" id="{6B5C5FCB-18E2-45FB-80B5-912FA842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680" y="790560"/>
            <a:ext cx="725760" cy="125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selection</a:t>
            </a:r>
          </a:p>
        </p:txBody>
      </p:sp>
      <p:sp>
        <p:nvSpPr>
          <p:cNvPr id="93" name="forward-body-line-1">
            <a:extLst xmlns:a="http://schemas.openxmlformats.org/drawingml/2006/main">
              <a:ext uri="{FF2B5EF4-FFF2-40B4-BE49-F238E27FC236}">
                <a16:creationId xmlns:a16="http://schemas.microsoft.com/office/drawing/2014/main" id="{644CFA13-299D-417D-9EEE-83985803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680" y="939427"/>
            <a:ext cx="725760" cy="96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Coarse if feasible</a:t>
            </a:r>
          </a:p>
        </p:txBody>
      </p:sp>
      <p:sp>
        <p:nvSpPr>
          <p:cNvPr id="94" name="forward-body-line-2">
            <a:extLst xmlns:a="http://schemas.openxmlformats.org/drawingml/2006/main">
              <a:ext uri="{FF2B5EF4-FFF2-40B4-BE49-F238E27FC236}">
                <a16:creationId xmlns:a16="http://schemas.microsoft.com/office/drawing/2014/main" id="{CD56BC94-54EA-4BB8-926D-467FBDD8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680" y="1036022"/>
            <a:ext cx="725760" cy="96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fine otherwise</a:t>
            </a:r>
          </a:p>
        </p:txBody>
      </p:sp>
      <p:sp>
        <p:nvSpPr>
          <p:cNvPr id="95" name="forward-body-line-3">
            <a:extLst xmlns:a="http://schemas.openxmlformats.org/drawingml/2006/main">
              <a:ext uri="{FF2B5EF4-FFF2-40B4-BE49-F238E27FC236}">
                <a16:creationId xmlns:a16="http://schemas.microsoft.com/office/drawing/2014/main" id="{34211C96-F026-41AB-A945-5C525C4C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680" y="1132618"/>
            <a:ext cx="725760" cy="96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Exact on P</a:t>
            </a:r>
          </a:p>
        </p:txBody>
      </p:sp>
      <p:sp>
        <p:nvSpPr>
          <p:cNvPr id="96" name="row-scans">
            <a:extLst xmlns:a="http://schemas.openxmlformats.org/drawingml/2006/main">
              <a:ext uri="{FF2B5EF4-FFF2-40B4-BE49-F238E27FC236}">
                <a16:creationId xmlns:a16="http://schemas.microsoft.com/office/drawing/2014/main" id="{4CD8F793-86F6-4CC0-AB1A-11CA891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040" y="1300320"/>
            <a:ext cx="1926720" cy="1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97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7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Per row: right-to-left scan, then left-to-right scan</a:t>
            </a:r>
          </a:p>
        </p:txBody>
      </p:sp>
      <p:sp>
        <p:nvSpPr>
          <p:cNvPr id="97" name="field-title">
            <a:extLst xmlns:a="http://schemas.openxmlformats.org/drawingml/2006/main">
              <a:ext uri="{FF2B5EF4-FFF2-40B4-BE49-F238E27FC236}">
                <a16:creationId xmlns:a16="http://schemas.microsoft.com/office/drawing/2014/main" id="{E2AB1F2B-DF36-410A-96A2-ABCFF0F1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514240" y="1270080"/>
            <a:ext cx="1296000" cy="155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Quantized field Y</a:t>
            </a:r>
          </a:p>
        </p:txBody>
      </p:sp>
      <p:sp>
        <p:nvSpPr>
          <p:cNvPr id="98" name="field-body">
            <a:extLst xmlns:a="http://schemas.openxmlformats.org/drawingml/2006/main">
              <a:ext uri="{FF2B5EF4-FFF2-40B4-BE49-F238E27FC236}">
                <a16:creationId xmlns:a16="http://schemas.microsoft.com/office/drawing/2014/main" id="{469B14F2-BB94-4506-B002-358BEC20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635200" y="1287360"/>
            <a:ext cx="1296000" cy="12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bounded integer pixels</a:t>
            </a:r>
          </a:p>
        </p:txBody>
      </p:sp>
      <p:sp>
        <p:nvSpPr>
          <p:cNvPr id="99" name="split-title">
            <a:extLst xmlns:a="http://schemas.openxmlformats.org/drawingml/2006/main">
              <a:ext uri="{FF2B5EF4-FFF2-40B4-BE49-F238E27FC236}">
                <a16:creationId xmlns:a16="http://schemas.microsoft.com/office/drawing/2014/main" id="{27AF2F57-9FF8-40FC-8A2E-7C95DC42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7440" y="760320"/>
            <a:ext cx="552960" cy="15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Split</a:t>
            </a:r>
          </a:p>
        </p:txBody>
      </p:sp>
      <p:sp>
        <p:nvSpPr>
          <p:cNvPr id="100" name="split-equation">
            <a:extLst xmlns:a="http://schemas.openxmlformats.org/drawingml/2006/main">
              <a:ext uri="{FF2B5EF4-FFF2-40B4-BE49-F238E27FC236}">
                <a16:creationId xmlns:a16="http://schemas.microsoft.com/office/drawing/2014/main" id="{C33DAF7C-C859-4DDB-8B9E-B0549674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8800" y="976320"/>
            <a:ext cx="570240" cy="13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Y = qZ + r</a:t>
            </a:r>
          </a:p>
        </p:txBody>
      </p:sp>
      <p:sp>
        <p:nvSpPr>
          <p:cNvPr id="101" name="quotient-encoder-text-line-1">
            <a:extLst xmlns:a="http://schemas.openxmlformats.org/drawingml/2006/main">
              <a:ext uri="{FF2B5EF4-FFF2-40B4-BE49-F238E27FC236}">
                <a16:creationId xmlns:a16="http://schemas.microsoft.com/office/drawing/2014/main" id="{8EC6E802-A332-4855-97DE-D7D518F6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660960"/>
            <a:ext cx="717120" cy="11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Byte shuffle</a:t>
            </a:r>
          </a:p>
        </p:txBody>
      </p:sp>
      <p:sp>
        <p:nvSpPr>
          <p:cNvPr id="102" name="quotient-encoder-text-line-2">
            <a:extLst xmlns:a="http://schemas.openxmlformats.org/drawingml/2006/main">
              <a:ext uri="{FF2B5EF4-FFF2-40B4-BE49-F238E27FC236}">
                <a16:creationId xmlns:a16="http://schemas.microsoft.com/office/drawing/2014/main" id="{C1D2B3CB-C358-4ECD-A308-1A3810F4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773280"/>
            <a:ext cx="717120" cy="11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LZMA encoder</a:t>
            </a:r>
          </a:p>
        </p:txBody>
      </p:sp>
      <p:sp>
        <p:nvSpPr>
          <p:cNvPr id="103" name="remainder-encoder-text-line-1">
            <a:extLst xmlns:a="http://schemas.openxmlformats.org/drawingml/2006/main">
              <a:ext uri="{FF2B5EF4-FFF2-40B4-BE49-F238E27FC236}">
                <a16:creationId xmlns:a16="http://schemas.microsoft.com/office/drawing/2014/main" id="{EF42C4C5-3379-4C37-8431-0274D56C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1023840"/>
            <a:ext cx="717120" cy="11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Byte shuffle</a:t>
            </a:r>
          </a:p>
        </p:txBody>
      </p:sp>
      <p:sp>
        <p:nvSpPr>
          <p:cNvPr id="104" name="remainder-encoder-text-line-2">
            <a:extLst xmlns:a="http://schemas.openxmlformats.org/drawingml/2006/main">
              <a:ext uri="{FF2B5EF4-FFF2-40B4-BE49-F238E27FC236}">
                <a16:creationId xmlns:a16="http://schemas.microsoft.com/office/drawing/2014/main" id="{1808450D-B63A-4927-9735-6FB3E2DA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1136160"/>
            <a:ext cx="717120" cy="11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LZMA encoder</a:t>
            </a:r>
          </a:p>
        </p:txBody>
      </p:sp>
      <p:sp>
        <p:nvSpPr>
          <p:cNvPr id="105" name="quotient-label">
            <a:extLst xmlns:a="http://schemas.openxmlformats.org/drawingml/2006/main">
              <a:ext uri="{FF2B5EF4-FFF2-40B4-BE49-F238E27FC236}">
                <a16:creationId xmlns:a16="http://schemas.microsoft.com/office/drawing/2014/main" id="{3318BA7E-5A44-42A0-A76E-968CD204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8160" y="639360"/>
            <a:ext cx="259200" cy="11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06" name="remainder-label">
            <a:extLst xmlns:a="http://schemas.openxmlformats.org/drawingml/2006/main">
              <a:ext uri="{FF2B5EF4-FFF2-40B4-BE49-F238E27FC236}">
                <a16:creationId xmlns:a16="http://schemas.microsoft.com/office/drawing/2014/main" id="{5967E442-DBCC-4857-B430-D6F92A6A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8160" y="1002240"/>
            <a:ext cx="259200" cy="11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07" name="file-title">
            <a:extLst xmlns:a="http://schemas.openxmlformats.org/drawingml/2006/main">
              <a:ext uri="{FF2B5EF4-FFF2-40B4-BE49-F238E27FC236}">
                <a16:creationId xmlns:a16="http://schemas.microsoft.com/office/drawing/2014/main" id="{B31F8BF0-4EAB-4F7B-A160-EFEFA208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002560" y="1270080"/>
            <a:ext cx="1296000" cy="155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Compressed file</a:t>
            </a:r>
          </a:p>
        </p:txBody>
      </p:sp>
      <p:sp>
        <p:nvSpPr>
          <p:cNvPr id="108" name="file-components">
            <a:extLst xmlns:a="http://schemas.openxmlformats.org/drawingml/2006/main">
              <a:ext uri="{FF2B5EF4-FFF2-40B4-BE49-F238E27FC236}">
                <a16:creationId xmlns:a16="http://schemas.microsoft.com/office/drawing/2014/main" id="{A911937A-FCDD-4571-99B7-D90E9D4F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110560" y="1287360"/>
            <a:ext cx="1296000" cy="12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48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48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streams, masks, metadata</a:t>
            </a:r>
          </a:p>
        </p:txBody>
      </p:sp>
      <p:sp>
        <p:nvSpPr>
          <p:cNvPr id="109" name="file-config">
            <a:extLst xmlns:a="http://schemas.openxmlformats.org/drawingml/2006/main">
              <a:ext uri="{FF2B5EF4-FFF2-40B4-BE49-F238E27FC236}">
                <a16:creationId xmlns:a16="http://schemas.microsoft.com/office/drawing/2014/main" id="{962A49C7-3144-426B-B71D-131EDAC4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209920" y="1296000"/>
            <a:ext cx="1296000" cy="10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8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config. and integrity checks</a:t>
            </a:r>
          </a:p>
        </p:txBody>
      </p:sp>
      <p:sp>
        <p:nvSpPr>
          <p:cNvPr id="110" name="storage-title">
            <a:extLst xmlns:a="http://schemas.openxmlformats.org/drawingml/2006/main">
              <a:ext uri="{FF2B5EF4-FFF2-40B4-BE49-F238E27FC236}">
                <a16:creationId xmlns:a16="http://schemas.microsoft.com/office/drawing/2014/main" id="{0FA20B55-DF94-49FC-8BE6-CC5934B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613840" y="1270080"/>
            <a:ext cx="129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Persistent storage</a:t>
            </a:r>
          </a:p>
        </p:txBody>
      </p:sp>
      <p:sp>
        <p:nvSpPr>
          <p:cNvPr id="111" name="recombine-title">
            <a:extLst xmlns:a="http://schemas.openxmlformats.org/drawingml/2006/main">
              <a:ext uri="{FF2B5EF4-FFF2-40B4-BE49-F238E27FC236}">
                <a16:creationId xmlns:a16="http://schemas.microsoft.com/office/drawing/2014/main" id="{A4546267-D8C4-4CE0-B1F7-57799C6A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4480" y="1576800"/>
            <a:ext cx="57888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8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8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Recombine</a:t>
            </a:r>
          </a:p>
        </p:txBody>
      </p:sp>
      <p:sp>
        <p:nvSpPr>
          <p:cNvPr id="112" name="recombine-equation">
            <a:extLst xmlns:a="http://schemas.openxmlformats.org/drawingml/2006/main">
              <a:ext uri="{FF2B5EF4-FFF2-40B4-BE49-F238E27FC236}">
                <a16:creationId xmlns:a16="http://schemas.microsoft.com/office/drawing/2014/main" id="{84569FDE-F6F1-49A4-B8CE-D60C54CD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8800" y="1831680"/>
            <a:ext cx="570240" cy="13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Y = qZ + r</a:t>
            </a:r>
          </a:p>
        </p:txBody>
      </p:sp>
      <p:sp>
        <p:nvSpPr>
          <p:cNvPr id="113" name="quotient-decoder-text-line-1">
            <a:extLst xmlns:a="http://schemas.openxmlformats.org/drawingml/2006/main">
              <a:ext uri="{FF2B5EF4-FFF2-40B4-BE49-F238E27FC236}">
                <a16:creationId xmlns:a16="http://schemas.microsoft.com/office/drawing/2014/main" id="{5A7B7FA4-4DB3-4158-B3E6-13A7487E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1494720"/>
            <a:ext cx="717120" cy="11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LZMA decoder</a:t>
            </a:r>
          </a:p>
        </p:txBody>
      </p:sp>
      <p:sp>
        <p:nvSpPr>
          <p:cNvPr id="114" name="quotient-decoder-text-line-2">
            <a:extLst xmlns:a="http://schemas.openxmlformats.org/drawingml/2006/main">
              <a:ext uri="{FF2B5EF4-FFF2-40B4-BE49-F238E27FC236}">
                <a16:creationId xmlns:a16="http://schemas.microsoft.com/office/drawing/2014/main" id="{900A6465-CF39-4B36-841C-C07D2543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1607040"/>
            <a:ext cx="717120" cy="11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Byte unshuffle</a:t>
            </a:r>
          </a:p>
        </p:txBody>
      </p:sp>
      <p:sp>
        <p:nvSpPr>
          <p:cNvPr id="115" name="remainder-decoder-text-line-1">
            <a:extLst xmlns:a="http://schemas.openxmlformats.org/drawingml/2006/main">
              <a:ext uri="{FF2B5EF4-FFF2-40B4-BE49-F238E27FC236}">
                <a16:creationId xmlns:a16="http://schemas.microsoft.com/office/drawing/2014/main" id="{CE265486-5CAB-4D9C-9FA7-120A1C88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1848960"/>
            <a:ext cx="717120" cy="11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LZMA decoder</a:t>
            </a:r>
          </a:p>
        </p:txBody>
      </p:sp>
      <p:sp>
        <p:nvSpPr>
          <p:cNvPr id="116" name="remainder-decoder-text-line-2">
            <a:extLst xmlns:a="http://schemas.openxmlformats.org/drawingml/2006/main">
              <a:ext uri="{FF2B5EF4-FFF2-40B4-BE49-F238E27FC236}">
                <a16:creationId xmlns:a16="http://schemas.microsoft.com/office/drawing/2014/main" id="{850D1E54-D647-46A9-98BC-D67694D7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800" y="1961280"/>
            <a:ext cx="717120" cy="11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Byte unshuffle</a:t>
            </a:r>
          </a:p>
        </p:txBody>
      </p:sp>
      <p:sp>
        <p:nvSpPr>
          <p:cNvPr id="117" name="decoded-quotient-label">
            <a:extLst xmlns:a="http://schemas.openxmlformats.org/drawingml/2006/main">
              <a:ext uri="{FF2B5EF4-FFF2-40B4-BE49-F238E27FC236}">
                <a16:creationId xmlns:a16="http://schemas.microsoft.com/office/drawing/2014/main" id="{FF03CDDA-64AD-44B9-9509-3950ECAA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8160" y="1468800"/>
            <a:ext cx="259200" cy="11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18" name="decoded-remainder-label">
            <a:extLst xmlns:a="http://schemas.openxmlformats.org/drawingml/2006/main">
              <a:ext uri="{FF2B5EF4-FFF2-40B4-BE49-F238E27FC236}">
                <a16:creationId xmlns:a16="http://schemas.microsoft.com/office/drawing/2014/main" id="{9D4E8FF1-5F4B-4C07-831C-3A9A6DF1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8160" y="1823040"/>
            <a:ext cx="259200" cy="11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19" name="prefix-title">
            <a:extLst xmlns:a="http://schemas.openxmlformats.org/drawingml/2006/main">
              <a:ext uri="{FF2B5EF4-FFF2-40B4-BE49-F238E27FC236}">
                <a16:creationId xmlns:a16="http://schemas.microsoft.com/office/drawing/2014/main" id="{F8CEBBE7-32E1-45D7-86EA-9A45EE16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680" y="1684800"/>
            <a:ext cx="725760" cy="15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86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6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Prefix tables</a:t>
            </a:r>
          </a:p>
        </p:txBody>
      </p:sp>
      <p:sp>
        <p:nvSpPr>
          <p:cNvPr id="120" name="prefix-body">
            <a:extLst xmlns:a="http://schemas.openxmlformats.org/drawingml/2006/main">
              <a:ext uri="{FF2B5EF4-FFF2-40B4-BE49-F238E27FC236}">
                <a16:creationId xmlns:a16="http://schemas.microsoft.com/office/drawing/2014/main" id="{915850B6-3767-4D65-BE75-ACB85142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9040" y="1900800"/>
            <a:ext cx="743040" cy="12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sum / valid count</a:t>
            </a:r>
          </a:p>
        </p:txBody>
      </p:sp>
      <p:sp>
        <p:nvSpPr>
          <p:cNvPr id="121" name="query-title-line-1">
            <a:extLst xmlns:a="http://schemas.openxmlformats.org/drawingml/2006/main">
              <a:ext uri="{FF2B5EF4-FFF2-40B4-BE49-F238E27FC236}">
                <a16:creationId xmlns:a16="http://schemas.microsoft.com/office/drawing/2014/main" id="{4B5D988A-34E9-4432-9380-D8825996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360" y="1718669"/>
            <a:ext cx="708480" cy="130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86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6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Four-corner</a:t>
            </a:r>
          </a:p>
        </p:txBody>
      </p:sp>
      <p:sp>
        <p:nvSpPr>
          <p:cNvPr id="122" name="query-title-line-2">
            <a:extLst xmlns:a="http://schemas.openxmlformats.org/drawingml/2006/main">
              <a:ext uri="{FF2B5EF4-FFF2-40B4-BE49-F238E27FC236}">
                <a16:creationId xmlns:a16="http://schemas.microsoft.com/office/drawing/2014/main" id="{E3A840A7-3990-4115-BEA3-4C846CF5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360" y="1848960"/>
            <a:ext cx="708480" cy="130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86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6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queries</a:t>
            </a:r>
          </a:p>
        </p:txBody>
      </p:sp>
      <p:sp>
        <p:nvSpPr>
          <p:cNvPr id="123" name="regional-title-line-1">
            <a:extLst xmlns:a="http://schemas.openxmlformats.org/drawingml/2006/main">
              <a:ext uri="{FF2B5EF4-FFF2-40B4-BE49-F238E27FC236}">
                <a16:creationId xmlns:a16="http://schemas.microsoft.com/office/drawing/2014/main" id="{2646EF45-C3C2-42C5-91E0-F1B7F3FE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520" y="1673482"/>
            <a:ext cx="639360" cy="125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Regional</a:t>
            </a:r>
          </a:p>
        </p:txBody>
      </p:sp>
      <p:sp>
        <p:nvSpPr>
          <p:cNvPr id="124" name="regional-title-line-2">
            <a:extLst xmlns:a="http://schemas.openxmlformats.org/drawingml/2006/main">
              <a:ext uri="{FF2B5EF4-FFF2-40B4-BE49-F238E27FC236}">
                <a16:creationId xmlns:a16="http://schemas.microsoft.com/office/drawing/2014/main" id="{42334417-2223-47DC-87BF-B2558CEE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520" y="1799280"/>
            <a:ext cx="639360" cy="125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2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sum / count</a:t>
            </a:r>
          </a:p>
        </p:txBody>
      </p:sp>
      <p:sp>
        <p:nvSpPr>
          <p:cNvPr id="125" name="regional-body">
            <a:extLst xmlns:a="http://schemas.openxmlformats.org/drawingml/2006/main">
              <a:ext uri="{FF2B5EF4-FFF2-40B4-BE49-F238E27FC236}">
                <a16:creationId xmlns:a16="http://schemas.microsoft.com/office/drawing/2014/main" id="{70BEEFC7-FFC3-4467-A90E-F5FD3854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520" y="1944000"/>
            <a:ext cx="639360" cy="9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any rectangle</a:t>
            </a:r>
          </a:p>
        </p:txBody>
      </p:sp>
      <p:sp>
        <p:nvSpPr>
          <p:cNvPr id="126" name="exact-mask-note">
            <a:extLst xmlns:a="http://schemas.openxmlformats.org/drawingml/2006/main">
              <a:ext uri="{FF2B5EF4-FFF2-40B4-BE49-F238E27FC236}">
                <a16:creationId xmlns:a16="http://schemas.microsoft.com/office/drawing/2014/main" id="{D5119236-C340-4875-A980-7D7D69BA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040" y="2116800"/>
            <a:ext cx="1926720" cy="1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Exact missing mask supplies valid-sample counts</a:t>
            </a:r>
          </a:p>
        </p:txBody>
      </p:sp>
      <p:sp>
        <p:nvSpPr>
          <p:cNvPr id="127" name="joint-guarantee">
            <a:extLst xmlns:a="http://schemas.openxmlformats.org/drawingml/2006/main">
              <a:ext uri="{FF2B5EF4-FFF2-40B4-BE49-F238E27FC236}">
                <a16:creationId xmlns:a16="http://schemas.microsoft.com/office/drawing/2014/main" id="{C1060B24-A845-4FE8-9134-3E3C55BB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00" y="2263680"/>
            <a:ext cx="625536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 ≤ Y ≤ U,   Y = X on P,   |prefix error| ≤ B  ⇒  every rectangular sum error ≤ ε</a:t>
            </a:r>
          </a:p>
        </p:txBody>
      </p:sp>
    </p:spTree>
    <p:extLst>
      <p:ext uri="{BB962C8B-B14F-4D97-AF65-F5344CB8AC3E}">
        <p14:creationId xmlns:p14="http://schemas.microsoft.com/office/powerpoint/2010/main" val="389257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2026-10-02T05:46:26.6800000Z</dcterms:created>
  <dcterms:modified xsi:type="dcterms:W3CDTF">2026-10-02T05:46:26.6800000Z</dcterms:modified>
</coreProperties>
</file>